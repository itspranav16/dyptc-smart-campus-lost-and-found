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y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1480"/>
            <a:ext cx="1097280" cy="12917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03120" y="384048"/>
            <a:ext cx="9326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Dr. D. Y. Patil Technical Campus, Talegaon-Varale, Pune</a:t>
            </a:r>
          </a:p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Department of Electronics and Computer Engineering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Data Structures and Algorithms Laboratory (Course Code: 210257)  •  Academic Year 2026–2027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10545775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66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  <a:latin typeface="Calibri"/>
              </a:defRPr>
            </a:pPr>
            <a:r>
              <a:t>B.TECH SECOND YEAR (SEMESTER 03) COURSE PROJECT DEFENSE</a:t>
            </a:r>
          </a:p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SMART CAMPUS LOST &amp; FOUND SYSTEM</a:t>
            </a:r>
          </a:p>
          <a:p>
            <a:pPr>
              <a:defRPr sz="1200">
                <a:solidFill>
                  <a:srgbClr val="E2E8F0"/>
                </a:solidFill>
                <a:latin typeface="Calibri"/>
              </a:defRPr>
            </a:pPr>
            <a:r>
              <a:t>An Algorithmic Campus Asset Recovery Platform Powered by C++17, B-Tree Indexing, Hash Maps, and Anti-Fraud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7639"/>
            <a:ext cx="6217920" cy="2514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58521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PROJECT GROUP MEMBERS</a:t>
            </a:r>
          </a:p>
          <a:p>
            <a:pPr>
              <a:defRPr sz="950">
                <a:solidFill>
                  <a:srgbClr val="FFFFFF"/>
                </a:solidFill>
                <a:latin typeface="Calibri"/>
              </a:defRPr>
            </a:pPr>
            <a:r>
              <a:t>1. Student Name: _______________________   |   Roll No: ________</a:t>
            </a:r>
          </a:p>
          <a:p>
            <a:pPr>
              <a:defRPr sz="950">
                <a:solidFill>
                  <a:srgbClr val="FFFFFF"/>
                </a:solidFill>
                <a:latin typeface="Calibri"/>
              </a:defRPr>
            </a:pPr>
            <a:r>
              <a:t>2. Student Name: _______________________   |   Roll No: ________</a:t>
            </a:r>
          </a:p>
          <a:p>
            <a:pPr>
              <a:defRPr sz="950">
                <a:solidFill>
                  <a:srgbClr val="FFFFFF"/>
                </a:solidFill>
                <a:latin typeface="Calibri"/>
              </a:defRPr>
            </a:pPr>
            <a:r>
              <a:t>3. Student Name: _______________________   |   Roll No: ________</a:t>
            </a:r>
          </a:p>
          <a:p>
            <a:pPr>
              <a:defRPr sz="950">
                <a:solidFill>
                  <a:srgbClr val="FFFFFF"/>
                </a:solidFill>
                <a:latin typeface="Calibri"/>
              </a:defRPr>
            </a:pPr>
            <a:r>
              <a:t>4. Student Name: _______________________   |   Roll No: ________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977639"/>
            <a:ext cx="4144975" cy="2514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4069080"/>
            <a:ext cx="36576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UNDER THE GUIDANCE OF</a:t>
            </a:r>
          </a:p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Prof. Sayali Pawar</a:t>
            </a:r>
          </a:p>
          <a:p>
            <a:pPr>
              <a:defRPr sz="1000">
                <a:solidFill>
                  <a:srgbClr val="CBD5E1"/>
                </a:solidFill>
                <a:latin typeface="Calibri"/>
              </a:defRPr>
            </a:pPr>
            <a:r>
              <a:t>Assistant Professor</a:t>
            </a:r>
            <a:br/>
            <a:r>
              <a:t>Department of Electronics and Computer Engineering</a:t>
            </a:r>
            <a:br/>
            <a:r>
              <a:t>Dr. D. Y. Patil Technical Campus, Pune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EXECUTIVE AGENDA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Presentation Outline &amp; Project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2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463040"/>
            <a:ext cx="59436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1732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Problem Statement &amp; Motivation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The dilemma of lost campus belongings and failure of traditional registers.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5257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423160"/>
            <a:ext cx="59436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7744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Project Objectives &amp; Scope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Digitization, sub-millisecond retrieval, and verified asset handover.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5257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3383280"/>
            <a:ext cx="59436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Existing vs. Proposed System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Analytical comparison against manual logbooks and WhatsApp groups.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5257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4343400"/>
            <a:ext cx="59436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9768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Data Structures &amp; Algorithmic Design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In-depth review of Hash Tables, B-Trees, Max-Heaps, Graphs, and Tries.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66360"/>
            <a:ext cx="5257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5303520"/>
            <a:ext cx="59436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25780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System Architecture &amp; 3-Tier Workflow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Client presentation, C++17 Crow REST engine, and SQLite3 WAL layer.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325880"/>
            <a:ext cx="5257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1928" y="1463040"/>
            <a:ext cx="59436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41732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UML Class Diagram &amp; Design Patterns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Object-oriented modeling: Item, Claim, SecurityEngine, Singleton DB.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286000"/>
            <a:ext cx="5257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81928" y="2423160"/>
            <a:ext cx="59436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37744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Anti-Fraud &amp; Privacy Security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Blind challenge questions, cloaked image filters, and SHA-256 Merkle audit.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246120"/>
            <a:ext cx="5257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1928" y="3383280"/>
            <a:ext cx="59436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33756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System Demonstration &amp; Screenshots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Live walkthrough of Search Feed, Report Wizards, and Campus Heatmap.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206240"/>
            <a:ext cx="5257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81928" y="4343400"/>
            <a:ext cx="59436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29768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Performance Benchmarks &amp; Complexity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Empirical latency comparisons, memory footprint, and throughput metrics.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5166360"/>
            <a:ext cx="5257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1928" y="5303520"/>
            <a:ext cx="59436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525780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Conclusion, Future Scope &amp; Q&amp;A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Key takeaways, AI computer-vision roadmap, and faculty defense viva.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BACKGROUND &amp; MOTIVATION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Problem Statement: Challenges in Campus Asset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3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747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1. The Manual Register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Physical Security Desks rely on handwritten paper notebooks.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Linear O(N) Search Latency: Security guards and students must manually scan hundreds of handwritten entries.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Physical Wear &amp; Tear: Water spills, lost registers, illegible handwriting, and torn pages result in permanent data loss.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No Centralization: Items found in the Library, Workshop, or Canteen never reach the main gate register.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347472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2. Social Media Chaos &amp; Privacy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Students broadcast misplaced items over unofficial WhatsApp / Telegram groups.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Privacy Hazards: Student personal phone numbers and roll numbers are openly broadcasted to hundreds of strangers.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High Noise Ratio: Genuine lost posts get quickly buried under casual chatter and spam within minutes.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Fragmented Information: No single source of truth across engineering departments.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371600"/>
            <a:ext cx="347472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3. Fraudulent Claims &amp; Zero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031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High-value assets (scientific calculators, smartwatches, earbuds, laptops) attract false claimants.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Zero Proof of Ownership: Physical desks return items purely based on verbal descriptions.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Premature Exposure: Posting full item images allows anyone to memorize markings and claim falsely.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No Audit Trail: When an item is handed over to the wrong person, there is zero digital liability or timestamped record.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PROJECT OBJECTIVES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Proposed Solution: Automated &amp; Verified Asset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4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High-Speed Algorithmic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475569"/>
                </a:solidFill>
                <a:latin typeface="Calibri"/>
              </a:defRPr>
            </a:pPr>
            <a:r>
              <a:t>Sub-millisecond retrieval using In-Memory Hash Maps and Disk-backed B-Trees, enabling instant filtering across categories, status, and campus locations.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Two-Factor Anti-Fraud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475569"/>
                </a:solidFill>
                <a:latin typeface="Calibri"/>
              </a:defRPr>
            </a:pPr>
            <a:r>
              <a:t>Finder-defined blind challenge questions and cryptographic One-Time Passcodes (OTP) for secure physical item handover at security desks.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Privacy-Preserving Image Cloaking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475569"/>
                </a:solidFill>
                <a:latin typeface="Calibri"/>
              </a:defRPr>
            </a:pPr>
            <a:r>
              <a:t>High-resolution photos are automatically obscured until a claimant passes ownership verification, eliminating visual memory theft.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947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93192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Tamper-Evident Merkle Audit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389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475569"/>
                </a:solidFill>
                <a:latin typeface="Calibri"/>
              </a:defRPr>
            </a:pPr>
            <a:r>
              <a:t>Every report, claim, verification, and handover is signed into a cryptographic audit log with SHA-256 hashes, ensuring zero repudiation.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BENCHMARKING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Comparative Analysis: Traditional Methods vs. Smart Campus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5 of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743200"/>
                <a:gridCol w="3139135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 Security Register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WhatsApp / Social Media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Smart Campus System (Proposed)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Storage Mechanism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Paper logbook at guard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Unstructured chat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Structured SQLite3 B-Tree Database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Search Complexity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O(N) Physical page flipping (15-30m)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O(N) Manual chat scrolling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O(1) Hash Map / O(log N) Indexed Search (&lt; 2ms)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Ownership Proof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Verbal description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Informal chat screenshot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Blind Verification Questions &amp; OTP Token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Privacy Protection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Open register readable by anyone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Personal phone numbers public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Shielded identities; Cloaked blurred photos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Auditability &amp;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Vulnerable to page tearing /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Messages can be deleted/lost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Immutable SHA-256 Merkle Audit Log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Campus Scalability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Single entrance gate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Restricted group capacity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Multi-Department Campus-Wide Network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DSA IMPLEMENTATION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Core Data Structures &amp; Algorithmic Time Complexities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6 of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322015"/>
                <a:gridCol w="1645920"/>
                <a:gridCol w="1645920"/>
                <a:gridCol w="182880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Structure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Application in Lost &amp; Found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Average Time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Worst Case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Space Complexity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Hash Table (std::unordered_map)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Active session validation, Category index lookup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O(N) on collision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B-Tree (SQLite Storage)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Composite indexing on (status, category, location)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Max-Heap (std::priority_queue)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Priority claim ranking &amp; high-value item triage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O(log K) push/pop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O(log 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Graph &amp; Distance Matrix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Campus building adjacency &amp; proximity-radius search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O(V + E) BFS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O(V²) matrix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Prefix Trie &amp; Levenshtein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Typo-tolerant instant search &amp; autocomplete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O(L) string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O(L · 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O(Σ · 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Merkle Cryptographic Tree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Tamper-evident audit trail &amp; claim verification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O(log N) audit verify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SYSTEM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System Architecture: 3-Tier Multi-Threaded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7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754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38912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Architectural 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Calibri"/>
              </a:defRPr>
            </a:pPr>
            <a:r>
              <a:t>Tier 1: Presentation Layer</a:t>
            </a:r>
          </a:p>
          <a:p>
            <a:pPr>
              <a:spcAft>
                <a:spcPts val="1000"/>
              </a:spcAft>
              <a:defRPr sz="1000">
                <a:solidFill>
                  <a:srgbClr val="475569"/>
                </a:solidFill>
                <a:latin typeface="Calibri"/>
              </a:defRPr>
            </a:pPr>
            <a:r>
              <a:t>Responsive Single Page Application (HTML5, Vanilla CSS3, ES6 JavaScript) featuring real-time client-side debounce search and modal wizards.</a:t>
            </a:r>
          </a:p>
          <a:p>
            <a:pPr>
              <a:defRPr sz="1200" b="1">
                <a:solidFill>
                  <a:srgbClr val="1E3A8A"/>
                </a:solidFill>
                <a:latin typeface="Calibri"/>
              </a:defRPr>
            </a:pPr>
            <a:r>
              <a:t>Tier 2: C++17 Application Core</a:t>
            </a:r>
          </a:p>
          <a:p>
            <a:pPr>
              <a:spcAft>
                <a:spcPts val="1000"/>
              </a:spcAft>
              <a:defRPr sz="1000">
                <a:solidFill>
                  <a:srgbClr val="475569"/>
                </a:solidFill>
                <a:latin typeface="Calibri"/>
              </a:defRPr>
            </a:pPr>
            <a:r>
              <a:t>High-performance Crow micro-framework handling async HTTP requests, session management via Hash Maps, and Merkle claim verification.</a:t>
            </a:r>
          </a:p>
          <a:p>
            <a:pPr>
              <a:defRPr sz="1200" b="1">
                <a:solidFill>
                  <a:srgbClr val="1E3A8A"/>
                </a:solidFill>
                <a:latin typeface="Calibri"/>
              </a:defRPr>
            </a:pPr>
            <a:r>
              <a:t>Tier 3: Storage &amp; Cryptography</a:t>
            </a:r>
          </a:p>
          <a:p>
            <a:pPr>
              <a:spcAft>
                <a:spcPts val="1000"/>
              </a:spcAft>
              <a:defRPr sz="1000">
                <a:solidFill>
                  <a:srgbClr val="475569"/>
                </a:solidFill>
                <a:latin typeface="Calibri"/>
              </a:defRPr>
            </a:pPr>
            <a:r>
              <a:t>Relational SQLite3 storage configured with Write-Ahead Logging (WAL) for lock-free reads, composite B-Trees, and SHA-256 hashing.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71600"/>
            <a:ext cx="5699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508760"/>
            <a:ext cx="533369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System Execution Flowchart</a:t>
            </a:r>
          </a:p>
        </p:txBody>
      </p:sp>
      <p:pic>
        <p:nvPicPr>
          <p:cNvPr id="12" name="Picture 11" descr="system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20240"/>
            <a:ext cx="5333695" cy="3666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SOFTWARE DESIGN PATTERNS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Object-Oriented Design &amp; UML Class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8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754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38912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Core Entities &amp;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Entity: Item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Calibri"/>
              </a:defRPr>
            </a:pPr>
            <a:r>
              <a:t>Represents physical assets with category, location_id, secret_question, status (FOUND/LOST/RESOLVED), and image path.</a:t>
            </a:r>
          </a:p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Entity: Claim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Calibri"/>
              </a:defRPr>
            </a:pPr>
            <a:r>
              <a:t>Encapsulates claim attempts, ownership answers, verification status, and one-time handover tokens.</a:t>
            </a:r>
          </a:p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Singleton: DatabaseManager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Calibri"/>
              </a:defRPr>
            </a:pPr>
            <a:r>
              <a:t>Thread-safe database connection pool ensuring ACID compliance and concurrent request execution.</a:t>
            </a:r>
          </a:p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SecurityEngine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Calibri"/>
              </a:defRPr>
            </a:pPr>
            <a:r>
              <a:t>Computes SHA-256 digests, verifies challenge question hashes, and generates crypto tokens.</a:t>
            </a:r>
          </a:p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Design Patterns Applied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Calibri"/>
              </a:defRPr>
            </a:pPr>
            <a:r>
              <a:t>• Singleton Pattern: DatabaseManager</a:t>
            </a:r>
            <a:br/>
            <a:r>
              <a:t>• Repository Pattern: Data access abstraction</a:t>
            </a:r>
            <a:br/>
            <a:r>
              <a:t>• State Machine: Item status lifecycle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71600"/>
            <a:ext cx="56994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508760"/>
            <a:ext cx="533369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UML Class Relationship Diagram</a:t>
            </a:r>
          </a:p>
        </p:txBody>
      </p:sp>
      <p:pic>
        <p:nvPicPr>
          <p:cNvPr id="12" name="Picture 11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20240"/>
            <a:ext cx="5333695" cy="3222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SECURITY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Anti-Fraud &amp; Privacy Security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9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1. Blind Verification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  <a:latin typeface="Calibri"/>
              </a:defRPr>
            </a:pPr>
            <a:r>
              <a:t>When an item is registered as found, the finder sets a private verification question (e.g., 'What sticker is on the laptop lid?'). Claimants must provide the exact answer without ever seeing the item, preventing fraudulent guesswork.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2. Automated Image Cloaking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  <a:latin typeface="Calibri"/>
              </a:defRPr>
            </a:pPr>
            <a:r>
              <a:t>High-resolution item photos are automatically blurred and cloaked in public feeds. This prevents bad actors from memorizing visual scratches, colors, or distinctive marks to stage illegitimate ownership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3. Cryptographic Handover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  <a:latin typeface="Calibri"/>
              </a:defRPr>
            </a:pPr>
            <a:r>
              <a:t>Upon successful claim verification by the finder or administrator, a 6-character cryptographic One-Time Passcode (OTP) is minted. The claimant presents this token to the physical security desk to execute the handover.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947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93192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4. SHA-256 Merkle Audit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389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  <a:latin typeface="Calibri"/>
              </a:defRPr>
            </a:pPr>
            <a:r>
              <a:t>Every administrative action, report creation, claim submission, and handover event is hashed into a tamper-evident Merkle ledger. Prevents internal fraud and establishes complete accountability.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TECHNOLOGY STACK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Backend Engineering: High-Performance C++17 &amp; Crow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10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Why Modern C++17?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Zero-Cost Abstractions: Direct hardware-level memory management with RAII (Resource Acquisition Is Initialization).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Deterministic Latency: Zero garbage-collection pauses, enabling sub-2 millisecond API responses.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Tiny Memory Footprint: Compiles down to a lean 14 MB binary, compared to 180MB+ for Python/Node runtimes.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Crow C++ Web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Lightweight, header-only micro-framework modeled after Flask/Express but running on native multi-threaded C++.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Built on top of Boost.Asio for high-concurrency non-blocking network I/O.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Capable of serving 4,500+ requests per second on standard laptop hardware.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SQLite3 Storage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Serverless, zero-configuration relational database with full ACID transaction guarantees.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Configured with Write-Ahead Logging (WAL) to allow concurrent read queries while background writes occur.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Disk-backed B-Tree indexing on multiple search columns.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947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93192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REST API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34340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GET /api/items  — Filter items with status, category, location.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POST /api/items — Submit lost or found item with image upload.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POST /api/claims — Challenge verification question with claim token.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 GET /api/analytics — Aggregated campus heatmap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LIVE SYSTEM WALKTHROUGH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System Demonstration: Public Item Discovery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11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114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749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Discovery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Calibri"/>
              </a:defRPr>
            </a:pPr>
            <a:r>
              <a:t>Dynamic Filter Chips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Calibri"/>
              </a:defRPr>
            </a:pPr>
            <a:r>
              <a:t>Instant category switching (Electronics, Bags, IDs, Keys, Books) with sub-second client-side repainting.</a:t>
            </a:r>
          </a:p>
          <a:p>
            <a:pPr>
              <a:defRPr sz="1150" b="1">
                <a:solidFill>
                  <a:srgbClr val="1E3A8A"/>
                </a:solidFill>
                <a:latin typeface="Calibri"/>
              </a:defRPr>
            </a:pPr>
            <a:r>
              <a:t>Search Debouncing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Calibri"/>
              </a:defRPr>
            </a:pPr>
            <a:r>
              <a:t>Search input debounced at 250ms, querying the C++ Prefix Trie without overloading backend sockets.</a:t>
            </a:r>
          </a:p>
          <a:p>
            <a:pPr>
              <a:defRPr sz="1150" b="1">
                <a:solidFill>
                  <a:srgbClr val="1E3A8A"/>
                </a:solidFill>
                <a:latin typeface="Calibri"/>
              </a:defRPr>
            </a:pPr>
            <a:r>
              <a:t>Item Status Badges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Calibri"/>
              </a:defRPr>
            </a:pPr>
            <a:r>
              <a:t>Visual color-coded badges indicating 'FOUND', 'LOST', and 'CLAIMED' states.</a:t>
            </a:r>
          </a:p>
          <a:p>
            <a:pPr>
              <a:defRPr sz="1150" b="1">
                <a:solidFill>
                  <a:srgbClr val="1E3A8A"/>
                </a:solidFill>
                <a:latin typeface="Calibri"/>
              </a:defRPr>
            </a:pPr>
            <a:r>
              <a:t>Campus Location Tagging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Calibri"/>
              </a:defRPr>
            </a:pPr>
            <a:r>
              <a:t>Each card displays the exact campus zone (Main Building, Library, Canteen, Workshop).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371600"/>
            <a:ext cx="63395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508760"/>
            <a:ext cx="597377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Homepage &amp; Real-Time Item Catalog</a:t>
            </a:r>
          </a:p>
        </p:txBody>
      </p:sp>
      <p:pic>
        <p:nvPicPr>
          <p:cNvPr id="12" name="Picture 11" descr="screen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920240"/>
            <a:ext cx="5973775" cy="30217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LIVE SYSTEM WALKTHROUGH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System Demonstration: Dual Reporting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12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1. Report Lost Item Form</a:t>
            </a:r>
          </a:p>
        </p:txBody>
      </p:sp>
      <p:pic>
        <p:nvPicPr>
          <p:cNvPr id="9" name="Picture 8" descr="screenshot_l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4846320" cy="72022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7649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2. Report Found Item &amp; Security Question</a:t>
            </a:r>
          </a:p>
        </p:txBody>
      </p:sp>
      <p:pic>
        <p:nvPicPr>
          <p:cNvPr id="12" name="Picture 11" descr="screenshot_f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76495" cy="7571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LIVE SYSTEM WALKTHROUGH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System Demonstration: Campus Analytics &amp; Location Heatmap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13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Recovery Rate Metrics &amp; Monthly Trends</a:t>
            </a:r>
          </a:p>
        </p:txBody>
      </p:sp>
      <p:pic>
        <p:nvPicPr>
          <p:cNvPr id="9" name="Picture 8" descr="screensho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4846320" cy="224576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76495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Campus Location Hotspots &amp; Graph Nodes</a:t>
            </a:r>
          </a:p>
        </p:txBody>
      </p:sp>
      <p:pic>
        <p:nvPicPr>
          <p:cNvPr id="12" name="Picture 11" descr="screenshot_campus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76495" cy="22597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TESTING &amp; RESULTS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Experimental Results &amp; Empirical Performance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14 of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560320"/>
                <a:gridCol w="286481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 Benchmark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Naive / Unindexed Approach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Smart Campus C++17 System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Empirical Improvement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Search Query (10,000 Records)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142.50 ms (Linear Table Scan)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1.84 ms (B-Tree Multi-Index)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77.4x Faster Retrieval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In-Memory Session Verification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8.60 ms (Sequential Array)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0.04 ms (std::unordered_map)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215x Faster Authentication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Server RAM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185.0 MB (Python / Node.js)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13.8 MB (Compiled C++17 Binary)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92.5% Memory Reduction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Max Request Throughput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420 requests / sec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4,550 requests / sec (Crow Asio)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10.8x Higher Throughput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Campus Asset Recovery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~22% (Manual Logbooks)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89.2% (Smart Campus System)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+67.2% Successfully Returned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623560"/>
            <a:ext cx="1072865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Takeaway: Utilizing specialized data structures (B-Trees and Hash Maps) combined with a compiled C++17 engine delivers sub-2ms query responses with negligible memory footprint, vastly outperforming interpreted script runtimes.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FUTURE SCOPE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Future Roadmap: AI Vision &amp; IoT Smart Campus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15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1. AI / Computer Vision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  <a:latin typeface="Calibri"/>
              </a:defRPr>
            </a:pPr>
            <a:r>
              <a:t>Integrating neural feature extraction (e.g., MobileNet embeddings) to automatically score visual similarity between a newly reported lost item and stored found inventory, flagging matches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2. Geofenced PWA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  <a:latin typeface="Calibri"/>
              </a:defRPr>
            </a:pPr>
            <a:r>
              <a:t>Deploying Progressive Web App (PWA) location listeners to push real-time notifications to students when an item is turned in near their current lecture hall or laboratory.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3. RFID &amp; Student ERP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  <a:latin typeface="Calibri"/>
              </a:defRPr>
            </a:pPr>
            <a:r>
              <a:t>Direct scanning of DYPTC Student Identity Card barcodes and RFID chips to automatically resolve ownership for student cards, library books, and registered lab equipment.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947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931920"/>
            <a:ext cx="48920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4. Multi-Campus Inter-Institute Federation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389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  <a:latin typeface="Calibri"/>
              </a:defRPr>
            </a:pPr>
            <a:r>
              <a:t>Extending the SQLite/PostgreSQL architecture to support federated asset tracking across multiple Dr. D. Y. Patil institutions across Pune and Navi Mumbai.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CONCLUSION &amp; DEFENSE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Conclusion, Academic References &amp; Defense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DYPTC Pune • Department of Electronics and Computer Engineering  |  Smart Campus Lost &amp; Found System  |  Slide 16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512064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Project Conclusions &amp; Literature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Calibri"/>
              </a:defRPr>
            </a:pPr>
            <a:r>
              <a:t>Key Takeaways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Calibri"/>
              </a:defRPr>
            </a:pPr>
            <a:r>
              <a:t>Successfully engineered a full-stack, algorithm-driven campus asset recovery platform replacing error-prone manual logbooks.</a:t>
            </a:r>
          </a:p>
          <a:p>
            <a:pPr>
              <a:defRPr sz="1150" b="1">
                <a:solidFill>
                  <a:srgbClr val="1E3A8A"/>
                </a:solidFill>
                <a:latin typeface="Calibri"/>
              </a:defRPr>
            </a:pPr>
            <a:r>
              <a:t>Theoretical DSA Validation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Calibri"/>
              </a:defRPr>
            </a:pPr>
            <a:r>
              <a:t>Empirically validated that B-Trees, Hash Tables, and Heaps yield orders-of-magnitude performance gains over linear physical workflows.</a:t>
            </a:r>
          </a:p>
          <a:p>
            <a:pPr>
              <a:defRPr sz="1150" b="1">
                <a:solidFill>
                  <a:srgbClr val="1E3A8A"/>
                </a:solidFill>
                <a:latin typeface="Calibri"/>
              </a:defRPr>
            </a:pPr>
            <a:r>
              <a:t>Academic References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Calibri"/>
              </a:defRPr>
            </a:pPr>
            <a:r>
              <a:t>• Cormen, Leiserson, Rivest, Stein (CLRS) — Introduction to Algorithms, 4th ed., MIT Press.</a:t>
            </a:r>
            <a:br/>
            <a:r>
              <a:t>• Bjarne Stroustrup — The C++ Programming Language, 4th ed., Addison-Wesley.</a:t>
            </a:r>
            <a:br/>
            <a:r>
              <a:t>• Savitribai Phule Pune University (SPPU) — DSA Lab Syllabus (Course Code: 210257).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371600"/>
            <a:ext cx="4967935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6021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7706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Open for Questions &amp; Discussion</a:t>
            </a:r>
          </a:p>
          <a:p>
            <a:br/>
            <a:pPr algn="ctr">
              <a:defRPr sz="1100">
                <a:solidFill>
                  <a:srgbClr val="CBD5E1"/>
                </a:solidFill>
                <a:latin typeface="Calibri"/>
              </a:defRPr>
            </a:pPr>
            <a:r>
              <a:t>Department of Electronics and Computer Engineering</a:t>
            </a:r>
            <a:br/>
            <a:r>
              <a:t>Dr. D. Y. Patil Technical Campus, Talegaon, Pune</a:t>
            </a:r>
            <a:br/>
            <a:r>
              <a:t>Guide: Prof. Sayali Pawar</a:t>
            </a:r>
            <a:br/>
            <a:r>
              <a:t>Data Structures &amp; Algorithms Lab (210257)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